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custDataLst>
    <p:tags r:id="rId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3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624" y="168"/>
      </p:cViewPr>
      <p:guideLst>
        <p:guide orient="horz" pos="2108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2.xml"/><Relationship Id="rId4" Type="http://schemas.openxmlformats.org/officeDocument/2006/relationships/tags" Target="../tags/tag2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5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/Relationships>
</file>

<file path=ppt/slideLayouts/_rels/slideLayout5.xml.rels><?xml version="1.0" encoding="UTF-8" standalone="yes"?>
<Relationships xmlns="http://schemas.openxmlformats.org/package/2006/relationships"><Relationship Id="rId8" Type="http://schemas.openxmlformats.org/officeDocument/2006/relationships/tags" Target="../tags/tag36.xml"/><Relationship Id="rId3" Type="http://schemas.openxmlformats.org/officeDocument/2006/relationships/tags" Target="../tags/tag31.xml"/><Relationship Id="rId7" Type="http://schemas.openxmlformats.org/officeDocument/2006/relationships/tags" Target="../tags/tag35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9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tags" Target="../tags/tag39.xml"/><Relationship Id="rId2" Type="http://schemas.openxmlformats.org/officeDocument/2006/relationships/tags" Target="../tags/tag38.xml"/><Relationship Id="rId1" Type="http://schemas.openxmlformats.org/officeDocument/2006/relationships/tags" Target="../tags/tag3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0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tags" Target="../tags/tag41.xml"/><Relationship Id="rId4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tags" Target="../tags/tag49.xml"/><Relationship Id="rId5" Type="http://schemas.openxmlformats.org/officeDocument/2006/relationships/tags" Target="../tags/tag48.xml"/><Relationship Id="rId4" Type="http://schemas.openxmlformats.org/officeDocument/2006/relationships/tags" Target="../tags/tag47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4.xml"/><Relationship Id="rId4" Type="http://schemas.openxmlformats.org/officeDocument/2006/relationships/tags" Target="../tags/tag53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8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3.xml"/><Relationship Id="rId4" Type="http://schemas.openxmlformats.org/officeDocument/2006/relationships/tags" Target="../tags/tag6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2025/8/3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18" Type="http://schemas.openxmlformats.org/officeDocument/2006/relationships/tags" Target="../tags/tag7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tags" Target="../tags/tag6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4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2025/8/3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: 圆角 14"/>
          <p:cNvSpPr/>
          <p:nvPr/>
        </p:nvSpPr>
        <p:spPr>
          <a:xfrm>
            <a:off x="4357370" y="5081270"/>
            <a:ext cx="2602230" cy="1456055"/>
          </a:xfrm>
          <a:prstGeom prst="roundRect">
            <a:avLst>
              <a:gd name="adj" fmla="val 10478"/>
            </a:avLst>
          </a:prstGeom>
          <a:solidFill>
            <a:srgbClr val="ED7D31">
              <a:lumMod val="40000"/>
              <a:lumOff val="60000"/>
            </a:srgbClr>
          </a:solidFill>
          <a:ln w="12700" cap="flat" cmpd="sng" algn="ctr">
            <a:solidFill>
              <a:srgbClr val="ED7D31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cs typeface="Times New Roman" panose="02020603050405020304" pitchFamily="18" charset="0"/>
              </a:rPr>
              <a:t>设备模拟器</a:t>
            </a:r>
          </a:p>
        </p:txBody>
      </p:sp>
      <p:grpSp>
        <p:nvGrpSpPr>
          <p:cNvPr id="24" name="组合 23"/>
          <p:cNvGrpSpPr/>
          <p:nvPr/>
        </p:nvGrpSpPr>
        <p:grpSpPr>
          <a:xfrm rot="19745436">
            <a:off x="3812093" y="2273672"/>
            <a:ext cx="3657278" cy="684530"/>
            <a:chOff x="6923" y="2545"/>
            <a:chExt cx="5454" cy="1078"/>
          </a:xfrm>
        </p:grpSpPr>
        <p:cxnSp>
          <p:nvCxnSpPr>
            <p:cNvPr id="32" name="连接符: 肘形 31"/>
            <p:cNvCxnSpPr>
              <a:cxnSpLocks/>
            </p:cNvCxnSpPr>
            <p:nvPr/>
          </p:nvCxnSpPr>
          <p:spPr>
            <a:xfrm>
              <a:off x="6923" y="3055"/>
              <a:ext cx="5454" cy="5"/>
            </a:xfrm>
            <a:prstGeom prst="bentConnector2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" name="文本框 4"/>
            <p:cNvSpPr txBox="1"/>
            <p:nvPr/>
          </p:nvSpPr>
          <p:spPr>
            <a:xfrm>
              <a:off x="7743" y="2545"/>
              <a:ext cx="4492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UI</a:t>
              </a: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状态查询，</a:t>
              </a:r>
              <a:r>
                <a:rPr lang="en-US" altLang="zh-CN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UI</a:t>
              </a: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交互命令</a:t>
              </a: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7833" y="3090"/>
              <a:ext cx="4180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</p:grpSp>
      <p:grpSp>
        <p:nvGrpSpPr>
          <p:cNvPr id="23" name="组合 22"/>
          <p:cNvGrpSpPr/>
          <p:nvPr/>
        </p:nvGrpSpPr>
        <p:grpSpPr>
          <a:xfrm rot="19723635">
            <a:off x="3931628" y="2731240"/>
            <a:ext cx="3616105" cy="341630"/>
            <a:chOff x="7196" y="5196"/>
            <a:chExt cx="5454" cy="538"/>
          </a:xfrm>
        </p:grpSpPr>
        <p:sp>
          <p:nvSpPr>
            <p:cNvPr id="9" name="文本框 8"/>
            <p:cNvSpPr txBox="1"/>
            <p:nvPr/>
          </p:nvSpPr>
          <p:spPr>
            <a:xfrm>
              <a:off x="7853" y="5201"/>
              <a:ext cx="4440" cy="53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UI</a:t>
              </a:r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状态信息，测试结果</a:t>
              </a:r>
            </a:p>
          </p:txBody>
        </p:sp>
        <p:cxnSp>
          <p:nvCxnSpPr>
            <p:cNvPr id="16" name="连接符: 肘形 31"/>
            <p:cNvCxnSpPr/>
            <p:nvPr/>
          </p:nvCxnSpPr>
          <p:spPr>
            <a:xfrm>
              <a:off x="7196" y="5196"/>
              <a:ext cx="5454" cy="5"/>
            </a:xfrm>
            <a:prstGeom prst="bentConnector2">
              <a:avLst/>
            </a:prstGeom>
            <a:ln w="28575">
              <a:headEnd type="triangle"/>
              <a:tailEnd type="non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5" name="组合 24"/>
          <p:cNvGrpSpPr/>
          <p:nvPr/>
        </p:nvGrpSpPr>
        <p:grpSpPr>
          <a:xfrm>
            <a:off x="1330325" y="243205"/>
            <a:ext cx="2693670" cy="4028440"/>
            <a:chOff x="2626" y="735"/>
            <a:chExt cx="4242" cy="6344"/>
          </a:xfrm>
        </p:grpSpPr>
        <p:sp>
          <p:nvSpPr>
            <p:cNvPr id="10" name="矩形: 圆角 9"/>
            <p:cNvSpPr/>
            <p:nvPr/>
          </p:nvSpPr>
          <p:spPr>
            <a:xfrm>
              <a:off x="2626" y="1400"/>
              <a:ext cx="4242" cy="5679"/>
            </a:xfrm>
            <a:prstGeom prst="roundRect">
              <a:avLst/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solidFill>
                <a:srgbClr val="4472C4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3056" y="735"/>
              <a:ext cx="3155" cy="58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lstStyle/>
            <a:p>
              <a:pPr algn="ctr"/>
              <a:r>
                <a:rPr lang="zh-CN" altLang="en-US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sym typeface="+mn-ea"/>
                </a:rPr>
                <a:t>测试服务器</a:t>
              </a:r>
            </a:p>
          </p:txBody>
        </p:sp>
        <p:sp>
          <p:nvSpPr>
            <p:cNvPr id="12" name="矩形: 圆角 9"/>
            <p:cNvSpPr/>
            <p:nvPr/>
          </p:nvSpPr>
          <p:spPr>
            <a:xfrm>
              <a:off x="3376" y="3713"/>
              <a:ext cx="2511" cy="706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sym typeface="+mn-ea"/>
                </a:rPr>
                <a:t>指令</a:t>
              </a:r>
              <a:r>
                <a:rPr lang="zh-CN" altLang="en-US" sz="1600" kern="0" dirty="0">
                  <a:solidFill>
                    <a:prstClr val="black"/>
                  </a:solidFill>
                  <a:latin typeface="SimHei" panose="02010609060101010101" pitchFamily="49" charset="-122"/>
                  <a:ea typeface="SimHei" panose="02010609060101010101" pitchFamily="49" charset="-122"/>
                  <a:sym typeface="+mn-ea"/>
                </a:rPr>
                <a:t>执行引擎</a:t>
              </a:r>
              <a:endParaRPr lang="en-US" altLang="zh-CN" sz="160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sym typeface="+mn-ea"/>
              </a:endParaRPr>
            </a:p>
          </p:txBody>
        </p:sp>
        <p:sp>
          <p:nvSpPr>
            <p:cNvPr id="13" name="矩形: 圆角 9"/>
            <p:cNvSpPr/>
            <p:nvPr/>
          </p:nvSpPr>
          <p:spPr>
            <a:xfrm>
              <a:off x="3376" y="5643"/>
              <a:ext cx="2509" cy="911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sym typeface="+mn-ea"/>
                </a:rPr>
                <a:t>测试通信模块</a:t>
              </a:r>
              <a:endParaRPr lang="en-US" altLang="zh-CN" sz="160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sym typeface="+mn-ea"/>
              </a:endParaRPr>
            </a:p>
          </p:txBody>
        </p:sp>
        <p:sp>
          <p:nvSpPr>
            <p:cNvPr id="14" name="矩形: 圆角 9"/>
            <p:cNvSpPr/>
            <p:nvPr/>
          </p:nvSpPr>
          <p:spPr>
            <a:xfrm>
              <a:off x="3376" y="1668"/>
              <a:ext cx="2511" cy="860"/>
            </a:xfrm>
            <a:prstGeom prst="round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60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SimHei" panose="02010609060101010101" pitchFamily="49" charset="-122"/>
                  <a:cs typeface="Arial" panose="020B0604020202020204" pitchFamily="34" charset="0"/>
                  <a:sym typeface="+mn-ea"/>
                </a:rPr>
                <a:t>IDE</a:t>
              </a:r>
              <a:r>
                <a:rPr lang="zh-CN" altLang="en-US" sz="160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sym typeface="+mn-ea"/>
                </a:rPr>
                <a:t>测试</a:t>
              </a:r>
              <a:endParaRPr lang="en-US" altLang="zh-CN" sz="1600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sym typeface="+mn-ea"/>
              </a:endParaRP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zh-CN" altLang="en-US" sz="1600" kern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imHei" panose="02010609060101010101" pitchFamily="49" charset="-122"/>
                  <a:ea typeface="SimHei" panose="02010609060101010101" pitchFamily="49" charset="-122"/>
                  <a:sym typeface="+mn-ea"/>
                </a:rPr>
                <a:t>集成开发环境</a:t>
              </a:r>
            </a:p>
          </p:txBody>
        </p:sp>
        <p:cxnSp>
          <p:nvCxnSpPr>
            <p:cNvPr id="18" name="直接箭头连接符 17"/>
            <p:cNvCxnSpPr>
              <a:cxnSpLocks/>
            </p:cNvCxnSpPr>
            <p:nvPr/>
          </p:nvCxnSpPr>
          <p:spPr>
            <a:xfrm>
              <a:off x="4630" y="2528"/>
              <a:ext cx="0" cy="118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cxnSpLocks/>
            </p:cNvCxnSpPr>
            <p:nvPr/>
          </p:nvCxnSpPr>
          <p:spPr>
            <a:xfrm>
              <a:off x="4630" y="4448"/>
              <a:ext cx="0" cy="1195"/>
            </a:xfrm>
            <a:prstGeom prst="straightConnector1">
              <a:avLst/>
            </a:prstGeom>
            <a:ln w="28575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20" name="文本框 19"/>
            <p:cNvSpPr txBox="1"/>
            <p:nvPr/>
          </p:nvSpPr>
          <p:spPr>
            <a:xfrm>
              <a:off x="4686" y="2809"/>
              <a:ext cx="1658" cy="49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脚本解析</a:t>
              </a: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4662" y="4728"/>
              <a:ext cx="1658" cy="510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zh-CN" altLang="en-US" sz="1600" dirty="0">
                  <a:latin typeface="SimHei" panose="02010609060101010101" pitchFamily="49" charset="-122"/>
                  <a:ea typeface="SimHei" panose="02010609060101010101" pitchFamily="49" charset="-122"/>
                </a:rPr>
                <a:t>命令发送</a:t>
              </a:r>
            </a:p>
          </p:txBody>
        </p:sp>
      </p:grpSp>
      <p:sp>
        <p:nvSpPr>
          <p:cNvPr id="26" name="矩形: 圆角 25"/>
          <p:cNvSpPr/>
          <p:nvPr/>
        </p:nvSpPr>
        <p:spPr>
          <a:xfrm>
            <a:off x="7266830" y="665797"/>
            <a:ext cx="3092355" cy="3774440"/>
          </a:xfrm>
          <a:prstGeom prst="roundRect">
            <a:avLst>
              <a:gd name="adj" fmla="val 11351"/>
            </a:avLst>
          </a:prstGeom>
          <a:solidFill>
            <a:srgbClr val="70AD47">
              <a:lumMod val="40000"/>
              <a:lumOff val="60000"/>
            </a:srgbClr>
          </a:solidFill>
          <a:ln w="12700" cap="flat" cmpd="sng" algn="ctr">
            <a:solidFill>
              <a:srgbClr val="70AD47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8655574" y="242887"/>
            <a:ext cx="1494790" cy="3695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kern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  <a:sym typeface="+mn-ea"/>
              </a:rPr>
              <a:t>被测机器</a:t>
            </a:r>
          </a:p>
        </p:txBody>
      </p:sp>
      <p:sp>
        <p:nvSpPr>
          <p:cNvPr id="45" name="矩形: 圆角 44"/>
          <p:cNvSpPr/>
          <p:nvPr/>
        </p:nvSpPr>
        <p:spPr>
          <a:xfrm>
            <a:off x="7857070" y="3482982"/>
            <a:ext cx="1824457" cy="534035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SimHei" panose="02010609060101010101" pitchFamily="49" charset="-122"/>
              </a:rPr>
              <a:t>QT APP</a:t>
            </a:r>
          </a:p>
        </p:txBody>
      </p:sp>
      <p:sp>
        <p:nvSpPr>
          <p:cNvPr id="17" name="矩形: 圆角 44"/>
          <p:cNvSpPr/>
          <p:nvPr/>
        </p:nvSpPr>
        <p:spPr>
          <a:xfrm>
            <a:off x="7857070" y="1340530"/>
            <a:ext cx="1939706" cy="761012"/>
          </a:xfrm>
          <a:prstGeom prst="roundRect">
            <a:avLst/>
          </a:prstGeom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mHei" panose="02010609060101010101" pitchFamily="49" charset="-122"/>
                <a:ea typeface="SimHei" panose="02010609060101010101" pitchFamily="49" charset="-122"/>
              </a:rPr>
              <a:t>测试代理程序</a:t>
            </a:r>
            <a:endParaRPr kumimoji="0" lang="zh-CN" altLang="en-US" sz="16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SimHei" panose="02010609060101010101" pitchFamily="49" charset="-122"/>
            </a:endParaRPr>
          </a:p>
        </p:txBody>
      </p:sp>
      <p:cxnSp>
        <p:nvCxnSpPr>
          <p:cNvPr id="21" name="直接箭头连接符 20"/>
          <p:cNvCxnSpPr>
            <a:cxnSpLocks/>
          </p:cNvCxnSpPr>
          <p:nvPr/>
        </p:nvCxnSpPr>
        <p:spPr>
          <a:xfrm>
            <a:off x="8582655" y="2173505"/>
            <a:ext cx="0" cy="1299210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cxnSpLocks/>
          </p:cNvCxnSpPr>
          <p:nvPr/>
        </p:nvCxnSpPr>
        <p:spPr>
          <a:xfrm flipV="1">
            <a:off x="9124945" y="2173505"/>
            <a:ext cx="10795" cy="1273175"/>
          </a:xfrm>
          <a:prstGeom prst="straightConnector1">
            <a:avLst/>
          </a:prstGeom>
          <a:ln w="28575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7463939" y="2600225"/>
            <a:ext cx="996315" cy="2584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状态查询、输入事件</a:t>
            </a:r>
            <a:endParaRPr lang="en-US" altLang="zh-CN" sz="1600" dirty="0"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151614" y="2730250"/>
            <a:ext cx="1217236" cy="329511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600" dirty="0">
                <a:latin typeface="SimHei" panose="02010609060101010101" pitchFamily="49" charset="-122"/>
                <a:ea typeface="SimHei" panose="02010609060101010101" pitchFamily="49" charset="-122"/>
              </a:rPr>
              <a:t>UI</a:t>
            </a:r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状态信息</a:t>
            </a:r>
          </a:p>
        </p:txBody>
      </p:sp>
      <p:cxnSp>
        <p:nvCxnSpPr>
          <p:cNvPr id="37" name="肘形连接符 36"/>
          <p:cNvCxnSpPr>
            <a:cxnSpLocks/>
            <a:stCxn id="10" idx="2"/>
          </p:cNvCxnSpPr>
          <p:nvPr/>
        </p:nvCxnSpPr>
        <p:spPr>
          <a:xfrm rot="16200000" flipH="1">
            <a:off x="2753995" y="4194810"/>
            <a:ext cx="1449070" cy="1602740"/>
          </a:xfrm>
          <a:prstGeom prst="bentConnector2">
            <a:avLst/>
          </a:prstGeom>
          <a:ln w="28575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cxnSpLocks/>
          </p:cNvCxnSpPr>
          <p:nvPr/>
        </p:nvCxnSpPr>
        <p:spPr>
          <a:xfrm rot="5400000" flipH="1" flipV="1">
            <a:off x="6996777" y="4077760"/>
            <a:ext cx="1587432" cy="1584323"/>
          </a:xfrm>
          <a:prstGeom prst="bentConnector3">
            <a:avLst>
              <a:gd name="adj1" fmla="val 931"/>
            </a:avLst>
          </a:prstGeom>
          <a:ln w="28575" cmpd="sng">
            <a:solidFill>
              <a:schemeClr val="tx1"/>
            </a:solidFill>
            <a:headEnd type="non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2715224" y="5073015"/>
            <a:ext cx="1648143" cy="6851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启动模拟器</a:t>
            </a:r>
          </a:p>
          <a:p>
            <a:pPr algn="ctr"/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发送数据和命令</a:t>
            </a:r>
          </a:p>
        </p:txBody>
      </p:sp>
      <p:cxnSp>
        <p:nvCxnSpPr>
          <p:cNvPr id="42" name="肘形连接符 41"/>
          <p:cNvCxnSpPr>
            <a:cxnSpLocks/>
          </p:cNvCxnSpPr>
          <p:nvPr/>
        </p:nvCxnSpPr>
        <p:spPr>
          <a:xfrm>
            <a:off x="2331220" y="4271644"/>
            <a:ext cx="1932804" cy="1729105"/>
          </a:xfrm>
          <a:prstGeom prst="bentConnector3">
            <a:avLst>
              <a:gd name="adj1" fmla="val 354"/>
            </a:avLst>
          </a:prstGeom>
          <a:ln w="28575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cxnSpLocks/>
          </p:cNvCxnSpPr>
          <p:nvPr/>
        </p:nvCxnSpPr>
        <p:spPr>
          <a:xfrm flipV="1">
            <a:off x="6937727" y="4068135"/>
            <a:ext cx="2172406" cy="1932615"/>
          </a:xfrm>
          <a:prstGeom prst="bentConnector3">
            <a:avLst>
              <a:gd name="adj1" fmla="val 99367"/>
            </a:avLst>
          </a:prstGeom>
          <a:ln w="28575" cmpd="sng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/>
        </p:nvSpPr>
        <p:spPr>
          <a:xfrm>
            <a:off x="7247888" y="5089348"/>
            <a:ext cx="1466850" cy="32624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模拟数据发送</a:t>
            </a:r>
          </a:p>
        </p:txBody>
      </p:sp>
      <p:sp>
        <p:nvSpPr>
          <p:cNvPr id="46" name="文本框 45"/>
          <p:cNvSpPr txBox="1"/>
          <p:nvPr/>
        </p:nvSpPr>
        <p:spPr>
          <a:xfrm>
            <a:off x="7464425" y="6074340"/>
            <a:ext cx="1346835" cy="304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处理结果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2850197" y="6088098"/>
            <a:ext cx="1346835" cy="4667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zh-CN" altLang="en-US" sz="1600" dirty="0">
                <a:latin typeface="SimHei" panose="02010609060101010101" pitchFamily="49" charset="-122"/>
                <a:ea typeface="SimHei" panose="02010609060101010101" pitchFamily="49" charset="-122"/>
              </a:rPr>
              <a:t>读取模拟器收到的结果</a:t>
            </a:r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493395" y="727075"/>
            <a:ext cx="6991350" cy="4667250"/>
            <a:chOff x="777" y="1145"/>
            <a:chExt cx="11010" cy="7350"/>
          </a:xfrm>
        </p:grpSpPr>
        <p:sp>
          <p:nvSpPr>
            <p:cNvPr id="10" name="矩形: 圆角 9"/>
            <p:cNvSpPr/>
            <p:nvPr/>
          </p:nvSpPr>
          <p:spPr>
            <a:xfrm>
              <a:off x="777" y="3792"/>
              <a:ext cx="2631" cy="2060"/>
            </a:xfrm>
            <a:prstGeom prst="roundRect">
              <a:avLst/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solidFill>
                <a:srgbClr val="4472C4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TestMachine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Communicator</a:t>
              </a:r>
            </a:p>
          </p:txBody>
        </p:sp>
        <p:grpSp>
          <p:nvGrpSpPr>
            <p:cNvPr id="7" name="组合 6"/>
            <p:cNvGrpSpPr/>
            <p:nvPr/>
          </p:nvGrpSpPr>
          <p:grpSpPr>
            <a:xfrm>
              <a:off x="5383" y="1145"/>
              <a:ext cx="6404" cy="7351"/>
              <a:chOff x="5383" y="1145"/>
              <a:chExt cx="6404" cy="7351"/>
            </a:xfrm>
          </p:grpSpPr>
          <p:sp>
            <p:nvSpPr>
              <p:cNvPr id="44" name="矩形: 圆角 43"/>
              <p:cNvSpPr/>
              <p:nvPr/>
            </p:nvSpPr>
            <p:spPr>
              <a:xfrm>
                <a:off x="5383" y="1145"/>
                <a:ext cx="6405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_connect/disconnect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建立关闭连接</a:t>
                </a:r>
              </a:p>
            </p:txBody>
          </p:sp>
          <p:sp>
            <p:nvSpPr>
              <p:cNvPr id="2" name="矩形: 圆角 43"/>
              <p:cNvSpPr/>
              <p:nvPr/>
            </p:nvSpPr>
            <p:spPr>
              <a:xfrm>
                <a:off x="5383" y="3791"/>
                <a:ext cx="6405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_get_app_region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获取应用区域信息</a:t>
                </a:r>
              </a:p>
            </p:txBody>
          </p:sp>
          <p:sp>
            <p:nvSpPr>
              <p:cNvPr id="3" name="矩形: 圆角 43"/>
              <p:cNvSpPr/>
              <p:nvPr/>
            </p:nvSpPr>
            <p:spPr>
              <a:xfrm>
                <a:off x="5383" y="5114"/>
                <a:ext cx="6405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get_screenshot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、</a:t>
                </a: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find_image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用于图像识别</a:t>
                </a:r>
              </a:p>
            </p:txBody>
          </p:sp>
          <p:sp>
            <p:nvSpPr>
              <p:cNvPr id="4" name="矩形: 圆角 43"/>
              <p:cNvSpPr/>
              <p:nvPr/>
            </p:nvSpPr>
            <p:spPr>
              <a:xfrm>
                <a:off x="5383" y="6437"/>
                <a:ext cx="6405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get_element_info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获取元素信息</a:t>
                </a:r>
              </a:p>
            </p:txBody>
          </p:sp>
          <p:sp>
            <p:nvSpPr>
              <p:cNvPr id="5" name="矩形: 圆角 43"/>
              <p:cNvSpPr/>
              <p:nvPr/>
            </p:nvSpPr>
            <p:spPr>
              <a:xfrm>
                <a:off x="5383" y="2468"/>
                <a:ext cx="6405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_send_request</a:t>
                </a: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向被测试机器发起请求</a:t>
                </a:r>
              </a:p>
            </p:txBody>
          </p:sp>
          <p:sp>
            <p:nvSpPr>
              <p:cNvPr id="6" name="矩形: 圆角 43"/>
              <p:cNvSpPr/>
              <p:nvPr/>
            </p:nvSpPr>
            <p:spPr>
              <a:xfrm>
                <a:off x="5383" y="7760"/>
                <a:ext cx="6405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execute_commands</a:t>
                </a: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发送指令到被测试机器</a:t>
                </a:r>
              </a:p>
            </p:txBody>
          </p:sp>
        </p:grpSp>
        <p:cxnSp>
          <p:nvCxnSpPr>
            <p:cNvPr id="8" name="直接箭头连接符 7"/>
            <p:cNvCxnSpPr>
              <a:endCxn id="44" idx="1"/>
            </p:cNvCxnSpPr>
            <p:nvPr/>
          </p:nvCxnSpPr>
          <p:spPr>
            <a:xfrm flipV="1">
              <a:off x="3385" y="1514"/>
              <a:ext cx="1998" cy="236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" name="直接箭头连接符 8"/>
            <p:cNvCxnSpPr>
              <a:endCxn id="5" idx="1"/>
            </p:cNvCxnSpPr>
            <p:nvPr/>
          </p:nvCxnSpPr>
          <p:spPr>
            <a:xfrm flipV="1">
              <a:off x="3481" y="2837"/>
              <a:ext cx="1902" cy="146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" name="直接箭头连接符 10"/>
            <p:cNvCxnSpPr>
              <a:endCxn id="2" idx="1"/>
            </p:cNvCxnSpPr>
            <p:nvPr/>
          </p:nvCxnSpPr>
          <p:spPr>
            <a:xfrm flipV="1">
              <a:off x="3529" y="4160"/>
              <a:ext cx="1854" cy="48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2" name="直接箭头连接符 11"/>
            <p:cNvCxnSpPr>
              <a:endCxn id="3" idx="1"/>
            </p:cNvCxnSpPr>
            <p:nvPr/>
          </p:nvCxnSpPr>
          <p:spPr>
            <a:xfrm>
              <a:off x="3529" y="5032"/>
              <a:ext cx="1854" cy="451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3" name="直接箭头连接符 12"/>
            <p:cNvCxnSpPr>
              <a:endCxn id="4" idx="1"/>
            </p:cNvCxnSpPr>
            <p:nvPr/>
          </p:nvCxnSpPr>
          <p:spPr>
            <a:xfrm>
              <a:off x="3529" y="5367"/>
              <a:ext cx="1854" cy="143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4" name="直接箭头连接符 13"/>
            <p:cNvCxnSpPr>
              <a:endCxn id="6" idx="1"/>
            </p:cNvCxnSpPr>
            <p:nvPr/>
          </p:nvCxnSpPr>
          <p:spPr>
            <a:xfrm>
              <a:off x="3465" y="5655"/>
              <a:ext cx="1918" cy="2474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15" name="矩形: 圆角 9"/>
          <p:cNvSpPr/>
          <p:nvPr/>
        </p:nvSpPr>
        <p:spPr>
          <a:xfrm>
            <a:off x="9201150" y="1569085"/>
            <a:ext cx="1670685" cy="973455"/>
          </a:xfrm>
          <a:prstGeom prst="roundRect">
            <a:avLst/>
          </a:prstGeom>
          <a:solidFill>
            <a:srgbClr val="4472C4">
              <a:lumMod val="40000"/>
              <a:lumOff val="60000"/>
            </a:srgbClr>
          </a:solidFill>
          <a:ln w="12700" cap="flat" cmpd="sng" algn="ctr">
            <a:solidFill>
              <a:srgbClr val="4472C4">
                <a:lumMod val="60000"/>
                <a:lumOff val="4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Operation</a:t>
            </a:r>
          </a:p>
        </p:txBody>
      </p:sp>
      <p:sp>
        <p:nvSpPr>
          <p:cNvPr id="17" name="矩形: 圆角 43"/>
          <p:cNvSpPr/>
          <p:nvPr/>
        </p:nvSpPr>
        <p:spPr>
          <a:xfrm>
            <a:off x="8882380" y="3481705"/>
            <a:ext cx="2308860" cy="1289685"/>
          </a:xfrm>
          <a:prstGeom prst="roundRect">
            <a:avLst/>
          </a:prstGeom>
          <a:solidFill>
            <a:srgbClr val="E7E6E6">
              <a:lumMod val="9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将复杂的操作转换为单纯的鼠标移动、鼠标点击、键盘事件</a:t>
            </a:r>
          </a:p>
        </p:txBody>
      </p:sp>
      <p:cxnSp>
        <p:nvCxnSpPr>
          <p:cNvPr id="18" name="直接箭头连接符 17"/>
          <p:cNvCxnSpPr>
            <a:stCxn id="15" idx="2"/>
            <a:endCxn id="17" idx="0"/>
          </p:cNvCxnSpPr>
          <p:nvPr/>
        </p:nvCxnSpPr>
        <p:spPr>
          <a:xfrm>
            <a:off x="10036810" y="2542540"/>
            <a:ext cx="0" cy="939165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/>
        </p:nvGrpSpPr>
        <p:grpSpPr>
          <a:xfrm>
            <a:off x="876300" y="1179830"/>
            <a:ext cx="10444480" cy="4156710"/>
            <a:chOff x="1380" y="1858"/>
            <a:chExt cx="16448" cy="6546"/>
          </a:xfrm>
        </p:grpSpPr>
        <p:sp>
          <p:nvSpPr>
            <p:cNvPr id="26" name="矩形: 圆角 25"/>
            <p:cNvSpPr/>
            <p:nvPr/>
          </p:nvSpPr>
          <p:spPr>
            <a:xfrm>
              <a:off x="1380" y="3093"/>
              <a:ext cx="2751" cy="2117"/>
            </a:xfrm>
            <a:prstGeom prst="roundRect">
              <a:avLst>
                <a:gd name="adj" fmla="val 11351"/>
              </a:avLst>
            </a:prstGeom>
            <a:solidFill>
              <a:srgbClr val="70AD47">
                <a:lumMod val="40000"/>
                <a:lumOff val="60000"/>
              </a:srgbClr>
            </a:solidFill>
            <a:ln w="12700" cap="flat" cmpd="sng" algn="ctr">
              <a:solidFill>
                <a:srgbClr val="70AD47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TestedMachineCommunicator</a:t>
              </a:r>
            </a:p>
          </p:txBody>
        </p:sp>
        <p:cxnSp>
          <p:nvCxnSpPr>
            <p:cNvPr id="6" name="直接箭头连接符 5"/>
            <p:cNvCxnSpPr>
              <a:endCxn id="44" idx="1"/>
            </p:cNvCxnSpPr>
            <p:nvPr/>
          </p:nvCxnSpPr>
          <p:spPr>
            <a:xfrm flipV="1">
              <a:off x="4264" y="2227"/>
              <a:ext cx="1119" cy="1129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>
              <a:endCxn id="4" idx="1"/>
            </p:cNvCxnSpPr>
            <p:nvPr/>
          </p:nvCxnSpPr>
          <p:spPr>
            <a:xfrm flipV="1">
              <a:off x="4201" y="4041"/>
              <a:ext cx="1182" cy="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" name="直接箭头连接符 7"/>
            <p:cNvCxnSpPr>
              <a:endCxn id="5" idx="1"/>
            </p:cNvCxnSpPr>
            <p:nvPr/>
          </p:nvCxnSpPr>
          <p:spPr>
            <a:xfrm>
              <a:off x="4232" y="4873"/>
              <a:ext cx="1151" cy="98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矩形: 圆角 25"/>
            <p:cNvSpPr/>
            <p:nvPr/>
          </p:nvSpPr>
          <p:spPr>
            <a:xfrm>
              <a:off x="14868" y="2982"/>
              <a:ext cx="2960" cy="2117"/>
            </a:xfrm>
            <a:prstGeom prst="roundRect">
              <a:avLst>
                <a:gd name="adj" fmla="val 11351"/>
              </a:avLst>
            </a:prstGeom>
            <a:solidFill>
              <a:srgbClr val="70AD47">
                <a:lumMod val="40000"/>
                <a:lumOff val="60000"/>
              </a:srgbClr>
            </a:solidFill>
            <a:ln w="12700" cap="flat" cmpd="sng" algn="ctr">
              <a:solidFill>
                <a:srgbClr val="70AD47">
                  <a:lumMod val="60000"/>
                  <a:lumOff val="4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LRU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8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华文楷体" panose="02010600040101010101" pitchFamily="2" charset="-122"/>
                  <a:ea typeface="华文楷体" panose="02010600040101010101" pitchFamily="2" charset="-122"/>
                  <a:cs typeface="+mn-cs"/>
                </a:rPr>
                <a:t>Cache</a:t>
              </a:r>
            </a:p>
          </p:txBody>
        </p:sp>
        <p:cxnSp>
          <p:nvCxnSpPr>
            <p:cNvPr id="10" name="直接箭头连接符 9"/>
            <p:cNvCxnSpPr>
              <a:stCxn id="4" idx="3"/>
              <a:endCxn id="9" idx="1"/>
            </p:cNvCxnSpPr>
            <p:nvPr/>
          </p:nvCxnSpPr>
          <p:spPr>
            <a:xfrm>
              <a:off x="11784" y="4041"/>
              <a:ext cx="3084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triangle"/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11788" y="3626"/>
              <a:ext cx="2622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/>
                <a:t>缓存最近访问的元素</a:t>
              </a: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5383" y="1858"/>
              <a:ext cx="6405" cy="6546"/>
              <a:chOff x="5383" y="1858"/>
              <a:chExt cx="6405" cy="6546"/>
            </a:xfrm>
          </p:grpSpPr>
          <p:sp>
            <p:nvSpPr>
              <p:cNvPr id="44" name="矩形: 圆角 43"/>
              <p:cNvSpPr/>
              <p:nvPr/>
            </p:nvSpPr>
            <p:spPr>
              <a:xfrm>
                <a:off x="5383" y="1858"/>
                <a:ext cx="6405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_get_screenshot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截屏（图像识别使用）</a:t>
                </a:r>
              </a:p>
            </p:txBody>
          </p:sp>
          <p:sp>
            <p:nvSpPr>
              <p:cNvPr id="4" name="矩形: 圆角 43"/>
              <p:cNvSpPr/>
              <p:nvPr/>
            </p:nvSpPr>
            <p:spPr>
              <a:xfrm>
                <a:off x="5383" y="3672"/>
                <a:ext cx="6401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_get_element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获取元素（位置、大小）</a:t>
                </a:r>
              </a:p>
            </p:txBody>
          </p:sp>
          <p:sp>
            <p:nvSpPr>
              <p:cNvPr id="5" name="矩形: 圆角 43"/>
              <p:cNvSpPr/>
              <p:nvPr/>
            </p:nvSpPr>
            <p:spPr>
              <a:xfrm>
                <a:off x="5383" y="5486"/>
                <a:ext cx="6404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_execute_commands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执行指令（点击、移动）</a:t>
                </a:r>
              </a:p>
            </p:txBody>
          </p:sp>
          <p:sp>
            <p:nvSpPr>
              <p:cNvPr id="12" name="矩形: 圆角 43"/>
              <p:cNvSpPr/>
              <p:nvPr/>
            </p:nvSpPr>
            <p:spPr>
              <a:xfrm>
                <a:off x="5384" y="7668"/>
                <a:ext cx="6404" cy="737"/>
              </a:xfrm>
              <a:prstGeom prst="roundRect">
                <a:avLst/>
              </a:prstGeom>
              <a:solidFill>
                <a:srgbClr val="E7E6E6">
                  <a:lumMod val="9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start  </a:t>
                </a:r>
                <a:r>
                  <a:rPr kumimoji="0" lang="zh-CN" alt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华文楷体" panose="02010600040101010101" pitchFamily="2" charset="-122"/>
                    <a:ea typeface="华文楷体" panose="02010600040101010101" pitchFamily="2" charset="-122"/>
                    <a:cs typeface="+mn-cs"/>
                  </a:rPr>
                  <a:t>监听并响应请求</a:t>
                </a:r>
              </a:p>
            </p:txBody>
          </p:sp>
        </p:grpSp>
        <p:cxnSp>
          <p:nvCxnSpPr>
            <p:cNvPr id="13" name="肘形连接符 12"/>
            <p:cNvCxnSpPr>
              <a:stCxn id="26" idx="2"/>
              <a:endCxn id="12" idx="1"/>
            </p:cNvCxnSpPr>
            <p:nvPr/>
          </p:nvCxnSpPr>
          <p:spPr>
            <a:xfrm rot="5400000" flipV="1">
              <a:off x="2657" y="5309"/>
              <a:ext cx="2827" cy="2628"/>
            </a:xfrm>
            <a:prstGeom prst="bentConnector2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YWYzNWE1Y2RlYTliMmUyNGUyNDYyMzc4MTRlMzM5OWY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</TotalTime>
  <Words>182</Words>
  <Application>Microsoft Macintosh PowerPoint</Application>
  <PresentationFormat>宽屏</PresentationFormat>
  <Paragraphs>38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SimHei</vt:lpstr>
      <vt:lpstr>华文楷体</vt:lpstr>
      <vt:lpstr>Arial</vt:lpstr>
      <vt:lpstr>Wingdings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Bo</cp:lastModifiedBy>
  <cp:revision>217</cp:revision>
  <dcterms:created xsi:type="dcterms:W3CDTF">2019-06-19T02:08:00Z</dcterms:created>
  <dcterms:modified xsi:type="dcterms:W3CDTF">2025-08-03T15:06:11Z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2052-12.1.0.17827</vt:lpwstr>
  </property>
  <property fmtid="{D5CDD505-2E9C-101B-9397-08002B2CF9AE}" pid="3" name="ICV">
    <vt:lpwstr>7B45FFEE1437448AADBE0858C9396F2A_11</vt:lpwstr>
  </property>
</Properties>
</file>